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0" r:id="rId2"/>
    <p:sldId id="293" r:id="rId3"/>
    <p:sldId id="296" r:id="rId4"/>
    <p:sldId id="303" r:id="rId5"/>
    <p:sldId id="305" r:id="rId6"/>
    <p:sldId id="325" r:id="rId7"/>
    <p:sldId id="331" r:id="rId8"/>
    <p:sldId id="31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53CD7-B95B-3A33-ED78-8C7848A9D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79116-FAE9-ACB3-B876-79ED83A6F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58AED-70BB-1A1E-23E9-1F261432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4E41-1017-4B90-9E72-61AF28544E83}" type="datetimeFigureOut">
              <a:rPr lang="en-ZA" smtClean="0"/>
              <a:t>2026/05/29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CAFF2-103E-2027-F91F-2CC953E4B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B1985-7272-AFCE-66B3-4C2ED75B2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8872F-C23E-4FDB-BF40-EF6C37ADC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19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0DD4-A7DD-D7D3-70BD-F1C245415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99585-6785-423E-1B47-AD65FF436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5BEF3-4822-2CEA-E5D6-9CB7F682A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4E41-1017-4B90-9E72-61AF28544E83}" type="datetimeFigureOut">
              <a:rPr lang="en-ZA" smtClean="0"/>
              <a:t>2026/05/29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76AF7-AB59-A3B6-F0F3-1BE1B77D5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F2606-8625-6DEF-BD6B-B84B81D9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8872F-C23E-4FDB-BF40-EF6C37ADC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025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2576-2543-C12A-6372-258B46D14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AE41C-BD46-D31D-6BC9-56220C1AB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49867-F0F2-81E7-79F0-A83B170B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4E41-1017-4B90-9E72-61AF28544E83}" type="datetimeFigureOut">
              <a:rPr lang="en-ZA" smtClean="0"/>
              <a:t>2026/05/29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CE8B2-519E-AE37-5297-ECF825D6B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1ED07-A1BE-7E83-099C-1BAE3B2E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8872F-C23E-4FDB-BF40-EF6C37ADC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967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B66D-7546-6942-3347-1CF0F3BEC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802F-0C4A-5A0C-E2F9-33BB17233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D16C9-816E-7F42-2AE1-B99B18F44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E61FB-D416-365A-D684-5DCD5DD6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4E41-1017-4B90-9E72-61AF28544E83}" type="datetimeFigureOut">
              <a:rPr lang="en-ZA" smtClean="0"/>
              <a:t>2026/05/29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9D05A-C859-5275-AB86-74D9132B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93EC1-F67E-7F1C-7032-E7D7EB5D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8872F-C23E-4FDB-BF40-EF6C37ADC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8332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3EAC6-4977-438B-4C0C-2C8EB7473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1E460-B1AB-58BD-7377-951188EF2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DD12A-1BF8-A180-38E3-9F949A852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278645-DA13-E4B4-AB10-4A44E27CB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58E22E-13EC-E730-08CA-25FD9CB538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31AB64-C777-3447-7803-2EB70F4D1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4E41-1017-4B90-9E72-61AF28544E83}" type="datetimeFigureOut">
              <a:rPr lang="en-ZA" smtClean="0"/>
              <a:t>2026/05/29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AE677-B556-F0B0-3DCA-42CBAC38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C7B60-E1CE-CC6E-5141-DFD3F35E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8872F-C23E-4FDB-BF40-EF6C37ADC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6166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CF99-3F24-160E-58A0-0EE435E3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459916-F512-A28B-6E8B-367FE4FF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4E41-1017-4B90-9E72-61AF28544E83}" type="datetimeFigureOut">
              <a:rPr lang="en-ZA" smtClean="0"/>
              <a:t>2026/05/29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958AD2-DB90-9BF1-4EFA-5935431D2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59F8F-1998-41A1-7161-DD6DBCF9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8872F-C23E-4FDB-BF40-EF6C37ADC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6181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B855C1-5B5E-B579-D776-C35A36E8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4E41-1017-4B90-9E72-61AF28544E83}" type="datetimeFigureOut">
              <a:rPr lang="en-ZA" smtClean="0"/>
              <a:t>2026/05/29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0E5691-8D7A-984B-54E3-8EF3B416F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0C3B4-F46F-1BE4-3201-7A680C1F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8872F-C23E-4FDB-BF40-EF6C37ADC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747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4307-3B7A-2A93-3082-7D02494DF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5BF0-52C8-BFF7-1AB4-FE321A539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3BBDE-1D83-8919-3E22-F6392C001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A33E7-75D1-B1ED-F673-135AC97AB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4E41-1017-4B90-9E72-61AF28544E83}" type="datetimeFigureOut">
              <a:rPr lang="en-ZA" smtClean="0"/>
              <a:t>2026/05/29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C1102-7E44-F0E7-63CC-1B8C7795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B9A51-0B55-63B0-B9BC-8F14071B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8872F-C23E-4FDB-BF40-EF6C37ADC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1903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3627-C859-5058-74D6-359FAE9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329B9B-4906-3A59-962A-309E0C3E87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D47A8-514A-81ED-1207-DAB98D1CC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CB2E6-2110-25FF-ED9F-9D5740FB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4E41-1017-4B90-9E72-61AF28544E83}" type="datetimeFigureOut">
              <a:rPr lang="en-ZA" smtClean="0"/>
              <a:t>2026/05/29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D39A0-15D0-AE82-A4FE-F3049316A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0D69E-922D-568B-BFC3-6F60165A3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8872F-C23E-4FDB-BF40-EF6C37ADC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6431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DB62-CE33-EB49-97B8-4849A5AA1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FA1A7C-BAC2-3B58-D2F8-75D804B5D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A8CDF-76F8-89B7-A3F2-2C8A26C5E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4E41-1017-4B90-9E72-61AF28544E83}" type="datetimeFigureOut">
              <a:rPr lang="en-ZA" smtClean="0"/>
              <a:t>2026/05/29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4B171-2D5F-9D7C-971A-4B890D21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D144C-89EB-80EE-EE0C-6FEE9FF7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8872F-C23E-4FDB-BF40-EF6C37ADC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8593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CED6B7-9EDA-27EF-F43B-211AAB03D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36ABE-B8B9-C776-E066-60BE50E65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9AB52-6F76-AC71-87D1-1190547E5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54E41-1017-4B90-9E72-61AF28544E83}" type="datetimeFigureOut">
              <a:rPr lang="en-ZA" smtClean="0"/>
              <a:t>2026/05/29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C71FA-55E7-3E81-55AF-805ABCA4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EF09D-E95B-4592-F57B-5EAFB756A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8872F-C23E-4FDB-BF40-EF6C37ADC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5970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F94AE-548F-B36B-5EB0-F45BFDC99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E7F09-B1C1-0403-BEE1-401FC0ECA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16D01-083C-54D7-B6D7-773B08C3B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54E41-1017-4B90-9E72-61AF28544E83}" type="datetimeFigureOut">
              <a:rPr lang="en-ZA" smtClean="0"/>
              <a:t>2026/05/29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18CCC-237B-98BB-E482-178CB97A0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D626F-2B46-2970-F869-26C95DC1C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48872F-C23E-4FDB-BF40-EF6C37ADCECF}" type="slidenum">
              <a:rPr lang="en-ZA" smtClean="0"/>
              <a:t>‹#›</a:t>
            </a:fld>
            <a:endParaRPr lang="en-ZA"/>
          </a:p>
        </p:txBody>
      </p:sp>
      <p:sp>
        <p:nvSpPr>
          <p:cNvPr id="90" name="TopBar"/>
          <p:cNvSpPr>
            <a:spLocks noGrp="1"/>
          </p:cNvSpPr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BottomLine"/>
          <p:cNvSpPr>
            <a:spLocks noGrp="1"/>
          </p:cNvSpPr>
          <p:nvPr/>
        </p:nvSpPr>
        <p:spPr>
          <a:xfrm>
            <a:off x="0" y="6400560"/>
            <a:ext cx="9144000" cy="457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492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A3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2A3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Block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Panel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MainTitle"/>
          <p:cNvSpPr/>
          <p:nvPr/>
        </p:nvSpPr>
        <p:spPr>
          <a:xfrm>
            <a:off x="304800" y="1371600"/>
            <a:ext cx="3962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lnSpc>
                <a:spcPts val="1200"/>
              </a:lnSpc>
            </a:pPr>
            <a:r>
              <a:rPr lang="en-US" sz="4000" b="1" dirty="0">
                <a:solidFill>
                  <a:srgbClr val="FFFFFF"/>
                </a:solidFill>
              </a:rPr>
              <a:t>Car Sales</a:t>
            </a:r>
          </a:p>
          <a:p>
            <a:pPr algn="l"/>
            <a:r>
              <a:rPr lang="en-US" sz="4000" b="1" dirty="0">
                <a:solidFill>
                  <a:srgbClr val="FFFFFF"/>
                </a:solidFill>
              </a:rPr>
              <a:t>Data Project</a:t>
            </a:r>
          </a:p>
        </p:txBody>
      </p:sp>
      <p:sp>
        <p:nvSpPr>
          <p:cNvPr id="13" name="Subtitle"/>
          <p:cNvSpPr/>
          <p:nvPr/>
        </p:nvSpPr>
        <p:spPr>
          <a:xfrm>
            <a:off x="304800" y="2895600"/>
            <a:ext cx="3962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1600" dirty="0">
                <a:solidFill>
                  <a:srgbClr val="B8D4EA"/>
                </a:solidFill>
              </a:rPr>
              <a:t>I looked at over 558,000 car sales</a:t>
            </a:r>
          </a:p>
          <a:p>
            <a:pPr algn="l"/>
            <a:r>
              <a:rPr lang="en-US" sz="1600" dirty="0">
                <a:solidFill>
                  <a:srgbClr val="B8D4EA"/>
                </a:solidFill>
              </a:rPr>
              <a:t>from late 2014 to mid 2015</a:t>
            </a:r>
          </a:p>
        </p:txBody>
      </p:sp>
      <p:sp>
        <p:nvSpPr>
          <p:cNvPr id="14" name="Stats"/>
          <p:cNvSpPr/>
          <p:nvPr/>
        </p:nvSpPr>
        <p:spPr>
          <a:xfrm>
            <a:off x="4800600" y="1143000"/>
            <a:ext cx="3657600" cy="4571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l">
              <a:spcBef>
                <a:spcPts val="400"/>
              </a:spcBef>
            </a:pPr>
            <a:r>
              <a:rPr lang="en-US" sz="1400" b="1" dirty="0">
                <a:solidFill>
                  <a:srgbClr val="1F4E78"/>
                </a:solidFill>
              </a:rPr>
              <a:t>What I looked at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rgbClr val="404040"/>
                </a:solidFill>
              </a:rPr>
              <a:t>558,811 car auction records</a:t>
            </a:r>
          </a:p>
          <a:p>
            <a:pPr algn="l">
              <a:spcBef>
                <a:spcPts val="500"/>
              </a:spcBef>
            </a:pPr>
            <a:r>
              <a:rPr lang="en-US" sz="1400" b="1" dirty="0">
                <a:solidFill>
                  <a:srgbClr val="1F4E78"/>
                </a:solidFill>
              </a:rPr>
              <a:t>Total money made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rgbClr val="404040"/>
                </a:solidFill>
              </a:rPr>
              <a:t>$7.6 billion </a:t>
            </a:r>
          </a:p>
          <a:p>
            <a:pPr algn="l">
              <a:spcBef>
                <a:spcPts val="500"/>
              </a:spcBef>
            </a:pPr>
            <a:r>
              <a:rPr lang="en-US" sz="1400" b="1" dirty="0">
                <a:solidFill>
                  <a:srgbClr val="1F4E78"/>
                </a:solidFill>
              </a:rPr>
              <a:t>Average car price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rgbClr val="404040"/>
                </a:solidFill>
              </a:rPr>
              <a:t>$13,611</a:t>
            </a:r>
          </a:p>
          <a:p>
            <a:pPr algn="l">
              <a:spcBef>
                <a:spcPts val="500"/>
              </a:spcBef>
            </a:pPr>
            <a:r>
              <a:rPr lang="en-US" sz="1400" b="1" dirty="0">
                <a:solidFill>
                  <a:srgbClr val="1F4E78"/>
                </a:solidFill>
              </a:rPr>
              <a:t>Profit margin (not great)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rgbClr val="404040"/>
                </a:solidFill>
              </a:rPr>
              <a:t>-15.1% on average</a:t>
            </a:r>
          </a:p>
        </p:txBody>
      </p:sp>
      <p:sp>
        <p:nvSpPr>
          <p:cNvPr id="15" name="Divider"/>
          <p:cNvSpPr/>
          <p:nvPr/>
        </p:nvSpPr>
        <p:spPr>
          <a:xfrm>
            <a:off x="4480560" y="685800"/>
            <a:ext cx="91440" cy="5486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59FBFB2-3029-1CDD-61BC-08D01CF2143A}"/>
              </a:ext>
            </a:extLst>
          </p:cNvPr>
          <p:cNvSpPr/>
          <p:nvPr/>
        </p:nvSpPr>
        <p:spPr>
          <a:xfrm>
            <a:off x="259080" y="6057900"/>
            <a:ext cx="3962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1600" dirty="0">
                <a:solidFill>
                  <a:srgbClr val="B8D4EA"/>
                </a:solidFill>
              </a:rPr>
              <a:t>Rinae Netshilinganedza</a:t>
            </a:r>
          </a:p>
        </p:txBody>
      </p:sp>
    </p:spTree>
    <p:extLst>
      <p:ext uri="{BB962C8B-B14F-4D97-AF65-F5344CB8AC3E}">
        <p14:creationId xmlns:p14="http://schemas.microsoft.com/office/powerpoint/2010/main" val="62139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/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2800" b="1" dirty="0">
                <a:solidFill>
                  <a:srgbClr val="1F4E78"/>
                </a:solidFill>
              </a:rPr>
              <a:t>The Big Numbers</a:t>
            </a:r>
          </a:p>
        </p:txBody>
      </p:sp>
      <p:sp>
        <p:nvSpPr>
          <p:cNvPr id="21" name="Uline"/>
          <p:cNvSpPr/>
          <p:nvPr/>
        </p:nvSpPr>
        <p:spPr>
          <a:xfrm>
            <a:off x="457200" y="960120"/>
            <a:ext cx="3200400" cy="457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KPI0"/>
          <p:cNvSpPr/>
          <p:nvPr/>
        </p:nvSpPr>
        <p:spPr>
          <a:xfrm>
            <a:off x="457200" y="1143000"/>
            <a:ext cx="2057400" cy="3556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 wrap="square" lIns="182880" tIns="274638" rIns="182880" bIns="182880" anchor="ctr">
            <a:normAutofit/>
          </a:bodyPr>
          <a:lstStyle/>
          <a:p>
            <a:pPr algn="ctr"/>
            <a:r>
              <a:rPr lang="en-US" sz="1200" dirty="0">
                <a:solidFill>
                  <a:srgbClr val="B8D4EA"/>
                </a:solidFill>
              </a:rPr>
              <a:t>Total Sales</a:t>
            </a:r>
          </a:p>
          <a:p>
            <a:pPr algn="ctr">
              <a:spcBef>
                <a:spcPts val="400"/>
              </a:spcBef>
            </a:pPr>
            <a:r>
              <a:rPr lang="en-US" sz="3600" b="1" dirty="0">
                <a:solidFill>
                  <a:srgbClr val="FFFFFF"/>
                </a:solidFill>
              </a:rPr>
              <a:t>558,799</a:t>
            </a:r>
          </a:p>
          <a:p>
            <a:pPr algn="ctr">
              <a:spcBef>
                <a:spcPts val="300"/>
              </a:spcBef>
            </a:pPr>
            <a:r>
              <a:rPr lang="en-US" sz="1200" dirty="0">
                <a:solidFill>
                  <a:srgbClr val="B8D4EA"/>
                </a:solidFill>
              </a:rPr>
              <a:t>cars sold at auction</a:t>
            </a:r>
          </a:p>
        </p:txBody>
      </p:sp>
      <p:sp>
        <p:nvSpPr>
          <p:cNvPr id="51" name="KPI1"/>
          <p:cNvSpPr/>
          <p:nvPr/>
        </p:nvSpPr>
        <p:spPr>
          <a:xfrm>
            <a:off x="2628900" y="1143000"/>
            <a:ext cx="2057400" cy="3556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 wrap="square" lIns="182880" tIns="274638" rIns="182880" bIns="182880" anchor="ctr">
            <a:normAutofit/>
          </a:bodyPr>
          <a:lstStyle/>
          <a:p>
            <a:pPr algn="ctr"/>
            <a:r>
              <a:rPr lang="en-US" sz="1200" dirty="0">
                <a:solidFill>
                  <a:srgbClr val="B8D4EA"/>
                </a:solidFill>
              </a:rPr>
              <a:t>Money Made</a:t>
            </a:r>
          </a:p>
          <a:p>
            <a:pPr algn="ctr">
              <a:spcBef>
                <a:spcPts val="400"/>
              </a:spcBef>
            </a:pPr>
            <a:r>
              <a:rPr lang="en-US" sz="3600" b="1" dirty="0">
                <a:solidFill>
                  <a:srgbClr val="FFFFFF"/>
                </a:solidFill>
              </a:rPr>
              <a:t>$7.6B</a:t>
            </a:r>
          </a:p>
          <a:p>
            <a:pPr algn="ctr">
              <a:spcBef>
                <a:spcPts val="300"/>
              </a:spcBef>
            </a:pPr>
            <a:r>
              <a:rPr lang="en-US" sz="1200" dirty="0">
                <a:solidFill>
                  <a:srgbClr val="B8D4EA"/>
                </a:solidFill>
              </a:rPr>
              <a:t>in total sales revenue</a:t>
            </a:r>
          </a:p>
        </p:txBody>
      </p:sp>
      <p:sp>
        <p:nvSpPr>
          <p:cNvPr id="52" name="KPI2"/>
          <p:cNvSpPr/>
          <p:nvPr/>
        </p:nvSpPr>
        <p:spPr>
          <a:xfrm>
            <a:off x="4800600" y="1143000"/>
            <a:ext cx="2057400" cy="3556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 wrap="square" lIns="182880" tIns="274638" rIns="182880" bIns="182880" anchor="ctr">
            <a:normAutofit/>
          </a:bodyPr>
          <a:lstStyle/>
          <a:p>
            <a:pPr algn="ctr"/>
            <a:r>
              <a:rPr lang="en-US" sz="1200" dirty="0">
                <a:solidFill>
                  <a:srgbClr val="B8D4EA"/>
                </a:solidFill>
              </a:rPr>
              <a:t>Avg. Car Price</a:t>
            </a:r>
          </a:p>
          <a:p>
            <a:pPr algn="ctr">
              <a:spcBef>
                <a:spcPts val="400"/>
              </a:spcBef>
            </a:pPr>
            <a:r>
              <a:rPr lang="en-US" sz="3600" b="1" dirty="0">
                <a:solidFill>
                  <a:srgbClr val="FFFFFF"/>
                </a:solidFill>
              </a:rPr>
              <a:t>$13,611</a:t>
            </a:r>
          </a:p>
          <a:p>
            <a:pPr algn="ctr">
              <a:spcBef>
                <a:spcPts val="300"/>
              </a:spcBef>
            </a:pPr>
            <a:r>
              <a:rPr lang="en-US" sz="1200" dirty="0">
                <a:solidFill>
                  <a:srgbClr val="B8D4EA"/>
                </a:solidFill>
              </a:rPr>
              <a:t>per car on average</a:t>
            </a:r>
          </a:p>
        </p:txBody>
      </p:sp>
      <p:sp>
        <p:nvSpPr>
          <p:cNvPr id="53" name="KPI3"/>
          <p:cNvSpPr/>
          <p:nvPr/>
        </p:nvSpPr>
        <p:spPr>
          <a:xfrm>
            <a:off x="6972300" y="1143000"/>
            <a:ext cx="2057400" cy="3556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 wrap="square" lIns="182880" tIns="274638" rIns="182880" bIns="182880" anchor="ctr">
            <a:normAutofit/>
          </a:bodyPr>
          <a:lstStyle/>
          <a:p>
            <a:pPr algn="ctr"/>
            <a:r>
              <a:rPr lang="en-US" sz="1200" dirty="0">
                <a:solidFill>
                  <a:srgbClr val="B8D4EA"/>
                </a:solidFill>
              </a:rPr>
              <a:t>Avg. Profit Margin</a:t>
            </a:r>
          </a:p>
          <a:p>
            <a:pPr algn="ctr">
              <a:spcBef>
                <a:spcPts val="400"/>
              </a:spcBef>
            </a:pPr>
            <a:r>
              <a:rPr lang="en-US" sz="3600" b="1" dirty="0">
                <a:solidFill>
                  <a:srgbClr val="FF6B6B"/>
                </a:solidFill>
              </a:rPr>
              <a:t>-15.1%</a:t>
            </a:r>
          </a:p>
          <a:p>
            <a:pPr algn="ctr">
              <a:spcBef>
                <a:spcPts val="300"/>
              </a:spcBef>
            </a:pPr>
            <a:r>
              <a:rPr lang="en-US" sz="1200" dirty="0">
                <a:solidFill>
                  <a:srgbClr val="B8D4EA"/>
                </a:solidFill>
              </a:rPr>
              <a:t>yikes, below market price</a:t>
            </a:r>
          </a:p>
        </p:txBody>
      </p:sp>
      <p:sp>
        <p:nvSpPr>
          <p:cNvPr id="60" name="Insight"/>
          <p:cNvSpPr/>
          <p:nvPr/>
        </p:nvSpPr>
        <p:spPr>
          <a:xfrm>
            <a:off x="457200" y="5334000"/>
            <a:ext cx="8229600" cy="1143000"/>
          </a:xfrm>
          <a:prstGeom prst="rect">
            <a:avLst/>
          </a:prstGeom>
          <a:solidFill>
            <a:srgbClr val="EBF2FA"/>
          </a:solidFill>
          <a:ln w="19050">
            <a:solidFill>
              <a:srgbClr val="1F4E78"/>
            </a:solidFill>
          </a:ln>
        </p:spPr>
        <p:txBody>
          <a:bodyPr wrap="square" lIns="182880" tIns="91440" rIns="182880" bIns="9144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The surprising part:  </a:t>
            </a:r>
            <a:r>
              <a:rPr lang="en-US" sz="1400" dirty="0">
                <a:solidFill>
                  <a:srgbClr val="1A2A3A"/>
                </a:solidFill>
              </a:rPr>
              <a:t>More than half of all the cars sold for LESS than what they were worth. So on average people were losing about 15 cents for every dollar</a:t>
            </a:r>
          </a:p>
        </p:txBody>
      </p:sp>
    </p:spTree>
    <p:extLst>
      <p:ext uri="{BB962C8B-B14F-4D97-AF65-F5344CB8AC3E}">
        <p14:creationId xmlns:p14="http://schemas.microsoft.com/office/powerpoint/2010/main" val="3277366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/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2800" b="1" dirty="0">
                <a:solidFill>
                  <a:srgbClr val="1F4E78"/>
                </a:solidFill>
              </a:rPr>
              <a:t>Sales by Quarter - When Was Everyone Buying?</a:t>
            </a:r>
          </a:p>
        </p:txBody>
      </p:sp>
      <p:sp>
        <p:nvSpPr>
          <p:cNvPr id="21" name="QtTable"/>
          <p:cNvSpPr/>
          <p:nvPr/>
        </p:nvSpPr>
        <p:spPr>
          <a:xfrm>
            <a:off x="457200" y="1028700"/>
            <a:ext cx="3886200" cy="4800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</a:pPr>
            <a:r>
              <a:rPr lang="en-US" sz="1600" b="1" dirty="0">
                <a:solidFill>
                  <a:srgbClr val="1F4E78"/>
                </a:solidFill>
              </a:rPr>
              <a:t>Sales Broken Down by 3-Month Period</a:t>
            </a:r>
          </a:p>
          <a:p>
            <a:pPr algn="l">
              <a:spcBef>
                <a:spcPts val="400"/>
              </a:spcBef>
            </a:pPr>
            <a:r>
              <a:rPr lang="en-US" sz="1500" b="1" dirty="0">
                <a:solidFill>
                  <a:srgbClr val="404040"/>
                </a:solidFill>
              </a:rPr>
              <a:t>Oct-Dec 2014</a:t>
            </a:r>
          </a:p>
          <a:p>
            <a:pPr marL="228600" algn="l">
              <a:spcBef>
                <a:spcPts val="100"/>
              </a:spcBef>
            </a:pPr>
            <a:r>
              <a:rPr lang="en-US" sz="1400" dirty="0">
                <a:solidFill>
                  <a:srgbClr val="404040"/>
                </a:solidFill>
              </a:rPr>
              <a:t>53,520 sales | $604M | -13.9% margin</a:t>
            </a:r>
          </a:p>
          <a:p>
            <a:pPr algn="l">
              <a:spcBef>
                <a:spcPts val="400"/>
              </a:spcBef>
            </a:pPr>
            <a:r>
              <a:rPr lang="en-US" sz="1500" b="1" dirty="0">
                <a:solidFill>
                  <a:srgbClr val="1F4E78"/>
                </a:solidFill>
              </a:rPr>
              <a:t>Jan-Mar 2015 ★ BUSIEST by far</a:t>
            </a:r>
          </a:p>
          <a:p>
            <a:pPr marL="228600" algn="l">
              <a:spcBef>
                <a:spcPts val="100"/>
              </a:spcBef>
            </a:pPr>
            <a:r>
              <a:rPr lang="en-US" sz="1400" dirty="0">
                <a:solidFill>
                  <a:srgbClr val="404040"/>
                </a:solidFill>
              </a:rPr>
              <a:t>349,938 sales | $4.7B | -18.2% margin</a:t>
            </a:r>
          </a:p>
          <a:p>
            <a:pPr marL="228600" algn="l">
              <a:spcBef>
                <a:spcPts val="100"/>
              </a:spcBef>
            </a:pPr>
            <a:r>
              <a:rPr lang="en-US" sz="1400" dirty="0">
                <a:solidFill>
                  <a:srgbClr val="404040"/>
                </a:solidFill>
              </a:rPr>
              <a:t>This one quarter = 62% of all the money!</a:t>
            </a:r>
          </a:p>
          <a:p>
            <a:pPr algn="l">
              <a:spcBef>
                <a:spcPts val="400"/>
              </a:spcBef>
            </a:pPr>
            <a:r>
              <a:rPr lang="en-US" sz="1500" b="1" dirty="0">
                <a:solidFill>
                  <a:srgbClr val="404040"/>
                </a:solidFill>
              </a:rPr>
              <a:t>Apr-Jun 2015</a:t>
            </a:r>
          </a:p>
          <a:p>
            <a:pPr marL="228600" algn="l">
              <a:spcBef>
                <a:spcPts val="100"/>
              </a:spcBef>
            </a:pPr>
            <a:r>
              <a:rPr lang="en-US" sz="1400" dirty="0">
                <a:solidFill>
                  <a:srgbClr val="404040"/>
                </a:solidFill>
              </a:rPr>
              <a:t>153,834 sales | $2.3B | -8.5% margin</a:t>
            </a:r>
          </a:p>
          <a:p>
            <a:pPr algn="l">
              <a:spcBef>
                <a:spcPts val="400"/>
              </a:spcBef>
            </a:pPr>
            <a:r>
              <a:rPr lang="en-US" sz="1500" b="1" dirty="0">
                <a:solidFill>
                  <a:srgbClr val="404040"/>
                </a:solidFill>
              </a:rPr>
              <a:t>Jul 2015 (only part of Q3)</a:t>
            </a:r>
          </a:p>
          <a:p>
            <a:pPr marL="228600" algn="l">
              <a:spcBef>
                <a:spcPts val="100"/>
              </a:spcBef>
            </a:pPr>
            <a:r>
              <a:rPr lang="en-US" sz="1400" dirty="0">
                <a:solidFill>
                  <a:srgbClr val="404040"/>
                </a:solidFill>
              </a:rPr>
              <a:t>1,300 sales | $22M | -9.9% margin</a:t>
            </a:r>
          </a:p>
        </p:txBody>
      </p:sp>
      <p:sp>
        <p:nvSpPr>
          <p:cNvPr id="22" name="ImgLabel"/>
          <p:cNvSpPr/>
          <p:nvPr/>
        </p:nvSpPr>
        <p:spPr>
          <a:xfrm>
            <a:off x="4572000" y="1028700"/>
            <a:ext cx="4114800" cy="3429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 fontScale="70000" lnSpcReduction="20000"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Chart from my Excel dashboard (you can filter it by state, car type, year)</a:t>
            </a:r>
          </a:p>
        </p:txBody>
      </p:sp>
      <p:pic>
        <p:nvPicPr>
          <p:cNvPr id="23" name="RevenueChart" descr="Revenue chart from Excel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60007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61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/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2800" b="1" dirty="0">
                <a:solidFill>
                  <a:srgbClr val="1F4E78"/>
                </a:solidFill>
              </a:rPr>
              <a:t>Which Car Brands Made the Most Money?</a:t>
            </a:r>
          </a:p>
        </p:txBody>
      </p:sp>
      <p:sp>
        <p:nvSpPr>
          <p:cNvPr id="40" name="Label0"/>
          <p:cNvSpPr/>
          <p:nvPr/>
        </p:nvSpPr>
        <p:spPr>
          <a:xfrm>
            <a:off x="457200" y="129159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r"/>
            <a:r>
              <a:rPr lang="en-US" sz="1600" b="1" dirty="0">
                <a:solidFill>
                  <a:srgbClr val="1A2A3A"/>
                </a:solidFill>
              </a:rPr>
              <a:t>Ford</a:t>
            </a:r>
          </a:p>
        </p:txBody>
      </p:sp>
      <p:sp>
        <p:nvSpPr>
          <p:cNvPr id="41" name="Bar0"/>
          <p:cNvSpPr/>
          <p:nvPr/>
        </p:nvSpPr>
        <p:spPr>
          <a:xfrm>
            <a:off x="2286000" y="1291590"/>
            <a:ext cx="5486400" cy="5486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Val0"/>
          <p:cNvSpPr/>
          <p:nvPr/>
        </p:nvSpPr>
        <p:spPr>
          <a:xfrm>
            <a:off x="7772400" y="129159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$1.36B</a:t>
            </a:r>
          </a:p>
        </p:txBody>
      </p:sp>
      <p:sp>
        <p:nvSpPr>
          <p:cNvPr id="43" name="Label1"/>
          <p:cNvSpPr/>
          <p:nvPr/>
        </p:nvSpPr>
        <p:spPr>
          <a:xfrm>
            <a:off x="457200" y="197739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r"/>
            <a:r>
              <a:rPr lang="en-US" sz="1600" b="1" dirty="0">
                <a:solidFill>
                  <a:srgbClr val="1A2A3A"/>
                </a:solidFill>
              </a:rPr>
              <a:t>Chevrolet</a:t>
            </a:r>
          </a:p>
        </p:txBody>
      </p:sp>
      <p:sp>
        <p:nvSpPr>
          <p:cNvPr id="44" name="Bar1"/>
          <p:cNvSpPr/>
          <p:nvPr/>
        </p:nvSpPr>
        <p:spPr>
          <a:xfrm>
            <a:off x="2286000" y="1977390"/>
            <a:ext cx="2907792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Val1"/>
          <p:cNvSpPr/>
          <p:nvPr/>
        </p:nvSpPr>
        <p:spPr>
          <a:xfrm>
            <a:off x="7772400" y="197739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$723M</a:t>
            </a:r>
          </a:p>
        </p:txBody>
      </p:sp>
      <p:sp>
        <p:nvSpPr>
          <p:cNvPr id="46" name="Label2"/>
          <p:cNvSpPr/>
          <p:nvPr/>
        </p:nvSpPr>
        <p:spPr>
          <a:xfrm>
            <a:off x="457200" y="266319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r"/>
            <a:r>
              <a:rPr lang="en-US" sz="1600" b="1" dirty="0">
                <a:solidFill>
                  <a:srgbClr val="1A2A3A"/>
                </a:solidFill>
              </a:rPr>
              <a:t>Nissan</a:t>
            </a:r>
          </a:p>
        </p:txBody>
      </p:sp>
      <p:sp>
        <p:nvSpPr>
          <p:cNvPr id="47" name="Bar2"/>
          <p:cNvSpPr/>
          <p:nvPr/>
        </p:nvSpPr>
        <p:spPr>
          <a:xfrm>
            <a:off x="2286000" y="2663190"/>
            <a:ext cx="252374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Val2"/>
          <p:cNvSpPr/>
          <p:nvPr/>
        </p:nvSpPr>
        <p:spPr>
          <a:xfrm>
            <a:off x="7772400" y="266319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$634M</a:t>
            </a:r>
          </a:p>
        </p:txBody>
      </p:sp>
      <p:sp>
        <p:nvSpPr>
          <p:cNvPr id="49" name="Label3"/>
          <p:cNvSpPr/>
          <p:nvPr/>
        </p:nvSpPr>
        <p:spPr>
          <a:xfrm>
            <a:off x="457200" y="334899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r"/>
            <a:r>
              <a:rPr lang="en-US" sz="1600" b="1" dirty="0">
                <a:solidFill>
                  <a:srgbClr val="1A2A3A"/>
                </a:solidFill>
              </a:rPr>
              <a:t>Toyota</a:t>
            </a:r>
          </a:p>
        </p:txBody>
      </p:sp>
      <p:sp>
        <p:nvSpPr>
          <p:cNvPr id="50" name="Bar3"/>
          <p:cNvSpPr/>
          <p:nvPr/>
        </p:nvSpPr>
        <p:spPr>
          <a:xfrm>
            <a:off x="2286000" y="3348990"/>
            <a:ext cx="197510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Val3"/>
          <p:cNvSpPr/>
          <p:nvPr/>
        </p:nvSpPr>
        <p:spPr>
          <a:xfrm>
            <a:off x="7772400" y="334899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$489M</a:t>
            </a:r>
          </a:p>
        </p:txBody>
      </p:sp>
      <p:sp>
        <p:nvSpPr>
          <p:cNvPr id="52" name="Label4"/>
          <p:cNvSpPr/>
          <p:nvPr/>
        </p:nvSpPr>
        <p:spPr>
          <a:xfrm>
            <a:off x="457200" y="403479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r"/>
            <a:r>
              <a:rPr lang="en-US" sz="1600" b="1" dirty="0">
                <a:solidFill>
                  <a:srgbClr val="1A2A3A"/>
                </a:solidFill>
              </a:rPr>
              <a:t>BMW</a:t>
            </a:r>
          </a:p>
        </p:txBody>
      </p:sp>
      <p:sp>
        <p:nvSpPr>
          <p:cNvPr id="53" name="Bar4"/>
          <p:cNvSpPr/>
          <p:nvPr/>
        </p:nvSpPr>
        <p:spPr>
          <a:xfrm>
            <a:off x="2286000" y="4034790"/>
            <a:ext cx="1810512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Val4"/>
          <p:cNvSpPr/>
          <p:nvPr/>
        </p:nvSpPr>
        <p:spPr>
          <a:xfrm>
            <a:off x="7772400" y="403479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$447M</a:t>
            </a:r>
          </a:p>
        </p:txBody>
      </p:sp>
      <p:sp>
        <p:nvSpPr>
          <p:cNvPr id="80" name="Insight"/>
          <p:cNvSpPr/>
          <p:nvPr/>
        </p:nvSpPr>
        <p:spPr>
          <a:xfrm>
            <a:off x="457200" y="4914600"/>
            <a:ext cx="8229600" cy="685800"/>
          </a:xfrm>
          <a:prstGeom prst="rect">
            <a:avLst/>
          </a:prstGeom>
          <a:solidFill>
            <a:srgbClr val="EBF2FA"/>
          </a:solidFill>
          <a:ln w="19050">
            <a:solidFill>
              <a:srgbClr val="1F4E78"/>
            </a:solidFill>
          </a:ln>
        </p:spPr>
        <p:txBody>
          <a:bodyPr wrap="square" lIns="182880" tIns="91440" rIns="182880" bIns="9144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Interesting thing I noticed:  </a:t>
            </a:r>
            <a:r>
              <a:rPr lang="en-US" sz="1400" dirty="0">
                <a:solidFill>
                  <a:srgbClr val="1A2A3A"/>
                </a:solidFill>
              </a:rPr>
              <a:t>Ford sold almost twice as many cars as Chevy. But BMW made $447M with only 21K cars — that's way more per car than Ford. Expensive cars = less volume but bigger checks.</a:t>
            </a:r>
          </a:p>
        </p:txBody>
      </p:sp>
    </p:spTree>
    <p:extLst>
      <p:ext uri="{BB962C8B-B14F-4D97-AF65-F5344CB8AC3E}">
        <p14:creationId xmlns:p14="http://schemas.microsoft.com/office/powerpoint/2010/main" val="165458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/>
          <p:nvPr/>
        </p:nvSpPr>
        <p:spPr>
          <a:xfrm>
            <a:off x="457200" y="27463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2800" b="1" dirty="0">
                <a:solidFill>
                  <a:srgbClr val="1F4E78"/>
                </a:solidFill>
              </a:rPr>
              <a:t>Where Are People Buying Cars?</a:t>
            </a:r>
          </a:p>
        </p:txBody>
      </p:sp>
      <p:sp>
        <p:nvSpPr>
          <p:cNvPr id="40" name="StateLabel0"/>
          <p:cNvSpPr/>
          <p:nvPr/>
        </p:nvSpPr>
        <p:spPr>
          <a:xfrm>
            <a:off x="457200" y="129159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r"/>
            <a:r>
              <a:rPr lang="en-US" sz="1600" b="1" dirty="0">
                <a:solidFill>
                  <a:srgbClr val="1A2A3A"/>
                </a:solidFill>
              </a:rPr>
              <a:t>Florida (FL)</a:t>
            </a:r>
          </a:p>
        </p:txBody>
      </p:sp>
      <p:sp>
        <p:nvSpPr>
          <p:cNvPr id="41" name="StateBar0"/>
          <p:cNvSpPr/>
          <p:nvPr/>
        </p:nvSpPr>
        <p:spPr>
          <a:xfrm>
            <a:off x="2514600" y="1291590"/>
            <a:ext cx="4800600" cy="5486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StateVal0"/>
          <p:cNvSpPr/>
          <p:nvPr/>
        </p:nvSpPr>
        <p:spPr>
          <a:xfrm>
            <a:off x="7543800" y="1291590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$1.15B</a:t>
            </a:r>
          </a:p>
        </p:txBody>
      </p:sp>
      <p:sp>
        <p:nvSpPr>
          <p:cNvPr id="43" name="StateLabel1"/>
          <p:cNvSpPr/>
          <p:nvPr/>
        </p:nvSpPr>
        <p:spPr>
          <a:xfrm>
            <a:off x="457200" y="197739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r"/>
            <a:r>
              <a:rPr lang="en-US" sz="1600" b="1" dirty="0">
                <a:solidFill>
                  <a:srgbClr val="1A2A3A"/>
                </a:solidFill>
              </a:rPr>
              <a:t>California (CA)</a:t>
            </a:r>
          </a:p>
        </p:txBody>
      </p:sp>
      <p:sp>
        <p:nvSpPr>
          <p:cNvPr id="44" name="StateBar1"/>
          <p:cNvSpPr/>
          <p:nvPr/>
        </p:nvSpPr>
        <p:spPr>
          <a:xfrm>
            <a:off x="2514600" y="1977390"/>
            <a:ext cx="4416552" cy="5486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StateVal1"/>
          <p:cNvSpPr/>
          <p:nvPr/>
        </p:nvSpPr>
        <p:spPr>
          <a:xfrm>
            <a:off x="7543800" y="1977390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$1.06B</a:t>
            </a:r>
          </a:p>
        </p:txBody>
      </p:sp>
      <p:sp>
        <p:nvSpPr>
          <p:cNvPr id="46" name="StateLabel2"/>
          <p:cNvSpPr/>
          <p:nvPr/>
        </p:nvSpPr>
        <p:spPr>
          <a:xfrm>
            <a:off x="457200" y="266319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r"/>
            <a:r>
              <a:rPr lang="en-US" sz="1600" b="1" dirty="0">
                <a:solidFill>
                  <a:srgbClr val="1A2A3A"/>
                </a:solidFill>
              </a:rPr>
              <a:t>Pennsylvania (PA)</a:t>
            </a:r>
          </a:p>
        </p:txBody>
      </p:sp>
      <p:sp>
        <p:nvSpPr>
          <p:cNvPr id="47" name="StateBar2"/>
          <p:cNvSpPr/>
          <p:nvPr/>
        </p:nvSpPr>
        <p:spPr>
          <a:xfrm>
            <a:off x="2514600" y="2663190"/>
            <a:ext cx="360045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StateVal2"/>
          <p:cNvSpPr/>
          <p:nvPr/>
        </p:nvSpPr>
        <p:spPr>
          <a:xfrm>
            <a:off x="7543800" y="2663190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$861M</a:t>
            </a:r>
          </a:p>
        </p:txBody>
      </p:sp>
      <p:sp>
        <p:nvSpPr>
          <p:cNvPr id="49" name="StateLabel3"/>
          <p:cNvSpPr/>
          <p:nvPr/>
        </p:nvSpPr>
        <p:spPr>
          <a:xfrm>
            <a:off x="457200" y="334899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r"/>
            <a:r>
              <a:rPr lang="en-US" sz="1600" b="1" dirty="0">
                <a:solidFill>
                  <a:srgbClr val="1A2A3A"/>
                </a:solidFill>
              </a:rPr>
              <a:t>Texas (TX)</a:t>
            </a:r>
          </a:p>
        </p:txBody>
      </p:sp>
      <p:sp>
        <p:nvSpPr>
          <p:cNvPr id="50" name="StateBar3"/>
          <p:cNvSpPr/>
          <p:nvPr/>
        </p:nvSpPr>
        <p:spPr>
          <a:xfrm>
            <a:off x="2514600" y="3348990"/>
            <a:ext cx="2544318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StateVal3"/>
          <p:cNvSpPr/>
          <p:nvPr/>
        </p:nvSpPr>
        <p:spPr>
          <a:xfrm>
            <a:off x="7543800" y="3348990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$606M</a:t>
            </a:r>
          </a:p>
        </p:txBody>
      </p:sp>
      <p:sp>
        <p:nvSpPr>
          <p:cNvPr id="52" name="StateLabel4"/>
          <p:cNvSpPr/>
          <p:nvPr/>
        </p:nvSpPr>
        <p:spPr>
          <a:xfrm>
            <a:off x="457200" y="403479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r"/>
            <a:r>
              <a:rPr lang="en-US" sz="1600" b="1" dirty="0">
                <a:solidFill>
                  <a:srgbClr val="1A2A3A"/>
                </a:solidFill>
              </a:rPr>
              <a:t>Georgia (GA)</a:t>
            </a:r>
          </a:p>
        </p:txBody>
      </p:sp>
      <p:sp>
        <p:nvSpPr>
          <p:cNvPr id="53" name="StateBar4"/>
          <p:cNvSpPr/>
          <p:nvPr/>
        </p:nvSpPr>
        <p:spPr>
          <a:xfrm>
            <a:off x="2514600" y="4034790"/>
            <a:ext cx="1872234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StateVal4"/>
          <p:cNvSpPr/>
          <p:nvPr/>
        </p:nvSpPr>
        <p:spPr>
          <a:xfrm>
            <a:off x="7543800" y="4034790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$449M</a:t>
            </a:r>
          </a:p>
        </p:txBody>
      </p:sp>
      <p:sp>
        <p:nvSpPr>
          <p:cNvPr id="80" name="Insight"/>
          <p:cNvSpPr/>
          <p:nvPr/>
        </p:nvSpPr>
        <p:spPr>
          <a:xfrm>
            <a:off x="457200" y="4914600"/>
            <a:ext cx="8229600" cy="685800"/>
          </a:xfrm>
          <a:prstGeom prst="rect">
            <a:avLst/>
          </a:prstGeom>
          <a:solidFill>
            <a:srgbClr val="EBF2FA"/>
          </a:solidFill>
          <a:ln w="19050">
            <a:solidFill>
              <a:srgbClr val="1F4E78"/>
            </a:solidFill>
          </a:ln>
        </p:spPr>
        <p:txBody>
          <a:bodyPr wrap="square" lIns="182880" tIns="91440" rIns="182880" bIns="9144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Wild:  </a:t>
            </a:r>
            <a:r>
              <a:rPr lang="en-US" sz="1400" dirty="0">
                <a:solidFill>
                  <a:srgbClr val="1A2A3A"/>
                </a:solidFill>
              </a:rPr>
              <a:t>Just four states — Florida, California, Pennsylvania, and Texas — made up almost half (48%) of all the money in the whole dataset. So if you want to sell cars, those are the places to be.</a:t>
            </a:r>
          </a:p>
        </p:txBody>
      </p:sp>
    </p:spTree>
    <p:extLst>
      <p:ext uri="{BB962C8B-B14F-4D97-AF65-F5344CB8AC3E}">
        <p14:creationId xmlns:p14="http://schemas.microsoft.com/office/powerpoint/2010/main" val="1715018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adge0"/>
          <p:cNvSpPr/>
          <p:nvPr/>
        </p:nvSpPr>
        <p:spPr>
          <a:xfrm>
            <a:off x="457200" y="952500"/>
            <a:ext cx="548640" cy="9652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1" name="Finding0"/>
          <p:cNvSpPr/>
          <p:nvPr/>
        </p:nvSpPr>
        <p:spPr>
          <a:xfrm>
            <a:off x="1097280" y="952500"/>
            <a:ext cx="7589520" cy="965200"/>
          </a:xfrm>
          <a:prstGeom prst="rect">
            <a:avLst/>
          </a:prstGeom>
          <a:solidFill>
            <a:srgbClr val="F5F9FC"/>
          </a:solidFill>
          <a:ln w="9525">
            <a:solidFill>
              <a:srgbClr val="D9E8F5"/>
            </a:solidFill>
          </a:ln>
        </p:spPr>
        <p:txBody>
          <a:bodyPr wrap="square" lIns="182880" tIns="91440" rIns="182880" bIns="91440" anchor="ctr">
            <a:normAutofit/>
          </a:bodyPr>
          <a:lstStyle/>
          <a:p>
            <a:pPr algn="l"/>
            <a:r>
              <a:rPr lang="en-US" sz="1600" dirty="0">
                <a:solidFill>
                  <a:srgbClr val="1A2A3A"/>
                </a:solidFill>
              </a:rPr>
              <a:t>The first three months of 2015 had more sales than any other time —6 times more than the last part of 2014</a:t>
            </a:r>
          </a:p>
        </p:txBody>
      </p:sp>
      <p:sp>
        <p:nvSpPr>
          <p:cNvPr id="32" name="Badge1"/>
          <p:cNvSpPr/>
          <p:nvPr/>
        </p:nvSpPr>
        <p:spPr>
          <a:xfrm>
            <a:off x="457200" y="2019300"/>
            <a:ext cx="548640" cy="9652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3" name="Finding1"/>
          <p:cNvSpPr/>
          <p:nvPr/>
        </p:nvSpPr>
        <p:spPr>
          <a:xfrm>
            <a:off x="1097280" y="2019300"/>
            <a:ext cx="7589520" cy="965200"/>
          </a:xfrm>
          <a:prstGeom prst="rect">
            <a:avLst/>
          </a:prstGeom>
          <a:solidFill>
            <a:srgbClr val="F5F9FC"/>
          </a:solidFill>
          <a:ln w="9525">
            <a:solidFill>
              <a:srgbClr val="D9E8F5"/>
            </a:solidFill>
          </a:ln>
        </p:spPr>
        <p:txBody>
          <a:bodyPr wrap="square" lIns="182880" tIns="91440" rIns="182880" bIns="91440" anchor="ctr">
            <a:normAutofit/>
          </a:bodyPr>
          <a:lstStyle/>
          <a:p>
            <a:pPr algn="l"/>
            <a:r>
              <a:rPr lang="en-US" sz="1600" dirty="0">
                <a:solidFill>
                  <a:srgbClr val="1A2A3A"/>
                </a:solidFill>
              </a:rPr>
              <a:t>More than half the cars sold for less than they were actually worth. </a:t>
            </a:r>
          </a:p>
        </p:txBody>
      </p:sp>
      <p:sp>
        <p:nvSpPr>
          <p:cNvPr id="34" name="Badge2"/>
          <p:cNvSpPr/>
          <p:nvPr/>
        </p:nvSpPr>
        <p:spPr>
          <a:xfrm>
            <a:off x="457200" y="3086100"/>
            <a:ext cx="548640" cy="9652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5" name="Finding2"/>
          <p:cNvSpPr/>
          <p:nvPr/>
        </p:nvSpPr>
        <p:spPr>
          <a:xfrm>
            <a:off x="1097280" y="3086100"/>
            <a:ext cx="7589520" cy="965200"/>
          </a:xfrm>
          <a:prstGeom prst="rect">
            <a:avLst/>
          </a:prstGeom>
          <a:solidFill>
            <a:srgbClr val="F5F9FC"/>
          </a:solidFill>
          <a:ln w="9525">
            <a:solidFill>
              <a:srgbClr val="D9E8F5"/>
            </a:solidFill>
          </a:ln>
        </p:spPr>
        <p:txBody>
          <a:bodyPr wrap="square" lIns="182880" tIns="91440" rIns="182880" bIns="91440" anchor="ctr">
            <a:normAutofit/>
          </a:bodyPr>
          <a:lstStyle/>
          <a:p>
            <a:pPr algn="l"/>
            <a:r>
              <a:rPr lang="en-US" sz="1600" dirty="0">
                <a:solidFill>
                  <a:srgbClr val="1A2A3A"/>
                </a:solidFill>
              </a:rPr>
              <a:t>Florida and California were way ahead of every other state</a:t>
            </a:r>
          </a:p>
        </p:txBody>
      </p:sp>
      <p:sp>
        <p:nvSpPr>
          <p:cNvPr id="36" name="Badge3"/>
          <p:cNvSpPr/>
          <p:nvPr/>
        </p:nvSpPr>
        <p:spPr>
          <a:xfrm>
            <a:off x="457200" y="4152900"/>
            <a:ext cx="548640" cy="9652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7" name="Finding3"/>
          <p:cNvSpPr/>
          <p:nvPr/>
        </p:nvSpPr>
        <p:spPr>
          <a:xfrm>
            <a:off x="1097280" y="4152900"/>
            <a:ext cx="7589520" cy="965200"/>
          </a:xfrm>
          <a:prstGeom prst="rect">
            <a:avLst/>
          </a:prstGeom>
          <a:solidFill>
            <a:srgbClr val="F5F9FC"/>
          </a:solidFill>
          <a:ln w="9525">
            <a:solidFill>
              <a:srgbClr val="D9E8F5"/>
            </a:solidFill>
          </a:ln>
        </p:spPr>
        <p:txBody>
          <a:bodyPr wrap="square" lIns="182880" tIns="91440" rIns="182880" bIns="91440" anchor="ctr">
            <a:normAutofit/>
          </a:bodyPr>
          <a:lstStyle/>
          <a:p>
            <a:pPr algn="l"/>
            <a:r>
              <a:rPr lang="en-US" sz="1600" dirty="0">
                <a:solidFill>
                  <a:srgbClr val="1A2A3A"/>
                </a:solidFill>
              </a:rPr>
              <a:t>Ford completely dominated — they sold almost twice as many cars as Chevy who came in second. </a:t>
            </a:r>
          </a:p>
        </p:txBody>
      </p:sp>
      <p:sp>
        <p:nvSpPr>
          <p:cNvPr id="38" name="Badge4"/>
          <p:cNvSpPr/>
          <p:nvPr/>
        </p:nvSpPr>
        <p:spPr>
          <a:xfrm>
            <a:off x="457200" y="5219700"/>
            <a:ext cx="548640" cy="965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9" name="Finding4"/>
          <p:cNvSpPr/>
          <p:nvPr/>
        </p:nvSpPr>
        <p:spPr>
          <a:xfrm>
            <a:off x="1097280" y="5219700"/>
            <a:ext cx="7589520" cy="965200"/>
          </a:xfrm>
          <a:prstGeom prst="rect">
            <a:avLst/>
          </a:prstGeom>
          <a:solidFill>
            <a:srgbClr val="F5F9FC"/>
          </a:solidFill>
          <a:ln w="9525">
            <a:solidFill>
              <a:srgbClr val="D9E8F5"/>
            </a:solidFill>
          </a:ln>
        </p:spPr>
        <p:txBody>
          <a:bodyPr wrap="square" lIns="182880" tIns="91440" rIns="182880" bIns="91440" anchor="ctr">
            <a:normAutofit/>
          </a:bodyPr>
          <a:lstStyle/>
          <a:p>
            <a:pPr algn="l"/>
            <a:r>
              <a:rPr lang="en-US" sz="1600" dirty="0">
                <a:solidFill>
                  <a:srgbClr val="1A2A3A"/>
                </a:solidFill>
              </a:rPr>
              <a:t>BMW sold way fewer cars than Ford but still made profit because of Car costs.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15F47B-8C8F-44E4-B49F-A745D96EDA93}"/>
              </a:ext>
            </a:extLst>
          </p:cNvPr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1F4E78"/>
                </a:solidFill>
              </a:rPr>
              <a:t>5 Things That Stood Out to Me</a:t>
            </a:r>
          </a:p>
        </p:txBody>
      </p:sp>
    </p:spTree>
    <p:extLst>
      <p:ext uri="{BB962C8B-B14F-4D97-AF65-F5344CB8AC3E}">
        <p14:creationId xmlns:p14="http://schemas.microsoft.com/office/powerpoint/2010/main" val="1669201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0"/>
          <p:cNvSpPr/>
          <p:nvPr/>
        </p:nvSpPr>
        <p:spPr>
          <a:xfrm>
            <a:off x="457200" y="1206500"/>
            <a:ext cx="3886200" cy="1778000"/>
          </a:xfrm>
          <a:prstGeom prst="rect">
            <a:avLst/>
          </a:prstGeom>
          <a:solidFill>
            <a:srgbClr val="F5F9FC"/>
          </a:solidFill>
          <a:ln w="19050">
            <a:solidFill>
              <a:srgbClr val="1F4E78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Look into why Jan-Mar 2015 blew up</a:t>
            </a:r>
          </a:p>
          <a:p>
            <a:pPr algn="l">
              <a:spcBef>
                <a:spcPts val="200"/>
              </a:spcBef>
            </a:pPr>
            <a:r>
              <a:rPr lang="en-US" sz="1200" dirty="0">
                <a:solidFill>
                  <a:srgbClr val="404040"/>
                </a:solidFill>
              </a:rPr>
              <a:t>That was 62% of all the sales in 8 months — there has to be a reason. If they figure it out they could be ready for it next time</a:t>
            </a:r>
          </a:p>
        </p:txBody>
      </p:sp>
      <p:sp>
        <p:nvSpPr>
          <p:cNvPr id="31" name="Rec1"/>
          <p:cNvSpPr/>
          <p:nvPr/>
        </p:nvSpPr>
        <p:spPr>
          <a:xfrm>
            <a:off x="4572000" y="1206500"/>
            <a:ext cx="3886200" cy="1778000"/>
          </a:xfrm>
          <a:prstGeom prst="rect">
            <a:avLst/>
          </a:prstGeom>
          <a:solidFill>
            <a:srgbClr val="F5F9FC"/>
          </a:solidFill>
          <a:ln w="19050">
            <a:solidFill>
              <a:srgbClr val="1F4E78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Don't let people pay too little</a:t>
            </a:r>
          </a:p>
          <a:p>
            <a:pPr algn="l">
              <a:spcBef>
                <a:spcPts val="200"/>
              </a:spcBef>
            </a:pPr>
            <a:r>
              <a:rPr lang="en-US" sz="1200" dirty="0">
                <a:solidFill>
                  <a:srgbClr val="404040"/>
                </a:solidFill>
              </a:rPr>
              <a:t>If I was the owner I'd set a floor price so no car can sell for less than what it's worth</a:t>
            </a:r>
          </a:p>
        </p:txBody>
      </p:sp>
      <p:sp>
        <p:nvSpPr>
          <p:cNvPr id="32" name="Rec2"/>
          <p:cNvSpPr/>
          <p:nvPr/>
        </p:nvSpPr>
        <p:spPr>
          <a:xfrm>
            <a:off x="457200" y="3111500"/>
            <a:ext cx="3886200" cy="1778000"/>
          </a:xfrm>
          <a:prstGeom prst="rect">
            <a:avLst/>
          </a:prstGeom>
          <a:solidFill>
            <a:srgbClr val="F5F9FC"/>
          </a:solidFill>
          <a:ln w="19050">
            <a:solidFill>
              <a:srgbClr val="1F4E78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Put more effort into Florida and California</a:t>
            </a:r>
          </a:p>
          <a:p>
            <a:pPr algn="l">
              <a:spcBef>
                <a:spcPts val="200"/>
              </a:spcBef>
            </a:pPr>
            <a:r>
              <a:rPr lang="en-US" sz="1200" dirty="0">
                <a:solidFill>
                  <a:srgbClr val="404040"/>
                </a:solidFill>
              </a:rPr>
              <a:t>Those two states alone made up 29% of all the money. It just makes sense to sell more cars where people are already buying them</a:t>
            </a:r>
          </a:p>
        </p:txBody>
      </p:sp>
      <p:sp>
        <p:nvSpPr>
          <p:cNvPr id="33" name="Rec3"/>
          <p:cNvSpPr/>
          <p:nvPr/>
        </p:nvSpPr>
        <p:spPr>
          <a:xfrm>
            <a:off x="4572000" y="3111500"/>
            <a:ext cx="3886200" cy="1778000"/>
          </a:xfrm>
          <a:prstGeom prst="rect">
            <a:avLst/>
          </a:prstGeom>
          <a:solidFill>
            <a:srgbClr val="F5F9FC"/>
          </a:solidFill>
          <a:ln w="19050">
            <a:solidFill>
              <a:srgbClr val="1F4E78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Sell more expensive cars</a:t>
            </a:r>
          </a:p>
          <a:p>
            <a:pPr algn="l">
              <a:spcBef>
                <a:spcPts val="200"/>
              </a:spcBef>
            </a:pPr>
            <a:r>
              <a:rPr lang="en-US" sz="1200" dirty="0">
                <a:solidFill>
                  <a:srgbClr val="404040"/>
                </a:solidFill>
              </a:rPr>
              <a:t>Luxury cars like BMW and Mercedes made more per sale. </a:t>
            </a:r>
          </a:p>
        </p:txBody>
      </p:sp>
      <p:sp>
        <p:nvSpPr>
          <p:cNvPr id="34" name="Rec4"/>
          <p:cNvSpPr/>
          <p:nvPr/>
        </p:nvSpPr>
        <p:spPr>
          <a:xfrm>
            <a:off x="2628900" y="4889500"/>
            <a:ext cx="3886200" cy="1778000"/>
          </a:xfrm>
          <a:prstGeom prst="rect">
            <a:avLst/>
          </a:prstGeom>
          <a:solidFill>
            <a:srgbClr val="F5F9FC"/>
          </a:solidFill>
          <a:ln w="19050">
            <a:solidFill>
              <a:srgbClr val="1F4E78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algn="l"/>
            <a:r>
              <a:rPr lang="en-US" sz="1400" b="1" dirty="0">
                <a:solidFill>
                  <a:srgbClr val="1F4E78"/>
                </a:solidFill>
              </a:rPr>
              <a:t>Use the data to plan ahead</a:t>
            </a:r>
          </a:p>
          <a:p>
            <a:pPr algn="l">
              <a:spcBef>
                <a:spcPts val="200"/>
              </a:spcBef>
            </a:pPr>
            <a:r>
              <a:rPr lang="en-US" sz="1200" dirty="0">
                <a:solidFill>
                  <a:srgbClr val="404040"/>
                </a:solidFill>
              </a:rPr>
              <a:t>Since we can now see which months are busy, someone could look at the patterns and have more cars ready before the sales go up.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5CC9DE-0C8B-4C99-989F-9C8F871D7F62}"/>
              </a:ext>
            </a:extLst>
          </p:cNvPr>
          <p:cNvSpPr txBox="1"/>
          <p:nvPr/>
        </p:nvSpPr>
        <p:spPr>
          <a:xfrm>
            <a:off x="457200" y="228600"/>
            <a:ext cx="8229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1F4E78"/>
                </a:solidFill>
              </a:rPr>
              <a:t>What I Think They Should Do</a:t>
            </a:r>
          </a:p>
        </p:txBody>
      </p:sp>
    </p:spTree>
    <p:extLst>
      <p:ext uri="{BB962C8B-B14F-4D97-AF65-F5344CB8AC3E}">
        <p14:creationId xmlns:p14="http://schemas.microsoft.com/office/powerpoint/2010/main" val="2294489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ccent"/>
          <p:cNvSpPr/>
          <p:nvPr/>
        </p:nvSpPr>
        <p:spPr>
          <a:xfrm>
            <a:off x="5257800" y="0"/>
            <a:ext cx="3886200" cy="6858000"/>
          </a:xfrm>
          <a:prstGeom prst="rect">
            <a:avLst/>
          </a:prstGeom>
          <a:solidFill>
            <a:srgbClr val="163D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Bar"/>
          <p:cNvSpPr/>
          <p:nvPr/>
        </p:nvSpPr>
        <p:spPr>
          <a:xfrm>
            <a:off x="457200" y="3200400"/>
            <a:ext cx="54864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Main"/>
          <p:cNvSpPr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US" sz="4400" b="1" dirty="0">
                <a:solidFill>
                  <a:srgbClr val="FFFFFF"/>
                </a:solidFill>
              </a:rPr>
              <a:t>Thanks!</a:t>
            </a:r>
          </a:p>
        </p:txBody>
      </p:sp>
      <p:sp>
        <p:nvSpPr>
          <p:cNvPr id="14" name="Sub"/>
          <p:cNvSpPr/>
          <p:nvPr/>
        </p:nvSpPr>
        <p:spPr>
          <a:xfrm>
            <a:off x="457200" y="34290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600" dirty="0">
                <a:solidFill>
                  <a:srgbClr val="B8D4EA"/>
                </a:solidFill>
              </a:rPr>
              <a:t>Car Sales Data Analysis Project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rgbClr val="7FB3D3"/>
                </a:solidFill>
              </a:rPr>
              <a:t>558,811 car sales looked at | Dec 2014 to Jul 2015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rgbClr val="7FB3D3"/>
                </a:solidFill>
              </a:rPr>
              <a:t>Data from: </a:t>
            </a:r>
            <a:r>
              <a:rPr lang="en-US" sz="1400" dirty="0" smtClean="0">
                <a:solidFill>
                  <a:srgbClr val="7FB3D3"/>
                </a:solidFill>
              </a:rPr>
              <a:t>R_Netshilinganedza_CareSales.xlsx</a:t>
            </a:r>
            <a:endParaRPr lang="en-US" sz="1400" dirty="0">
              <a:solidFill>
                <a:srgbClr val="7FB3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844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824411389]">
  <a:themeElements>
    <a:clrScheme name="Office">
      <a:dk1>
        <a:srgbClr val="1A2A3A"/>
      </a:dk1>
      <a:lt1>
        <a:srgbClr val="FFFFFF"/>
      </a:lt1>
      <a:dk2>
        <a:srgbClr val="1F4E78"/>
      </a:dk2>
      <a:lt2>
        <a:srgbClr val="EBF2FA"/>
      </a:lt2>
      <a:accent1>
        <a:srgbClr val="1F4E78"/>
      </a:accent1>
      <a:accent2>
        <a:srgbClr val="2E75B6"/>
      </a:accent2>
      <a:accent3>
        <a:srgbClr val="00B0F0"/>
      </a:accent3>
      <a:accent4>
        <a:srgbClr val="70AD47"/>
      </a:accent4>
      <a:accent5>
        <a:srgbClr val="ED7D31"/>
      </a:accent5>
      <a:accent6>
        <a:srgbClr val="A5A5A5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962068-C3C3-4FFD-B948-E2D28E6A71E8}">
  <we:reference id="wa200010725" version="1.0.0.1" store="en-GB" storeType="OMEX"/>
  <we:alternateReferences>
    <we:reference id="WA200010725" version="1.0.0.1" store="" storeType="OMEX"/>
  </we:alternateReferences>
  <we:properties>
    <we:property name="claude.fileId" value="&quot;0e68e2ab-c214-4209-b3e2-762fa4e5a5e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</Words>
  <Application>Microsoft Office PowerPoint</Application>
  <PresentationFormat>Widescreen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 [1779824411389]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Thimuhangwi Netshilinganedza</dc:creator>
  <cp:lastModifiedBy>Rinae Netshilinganedza</cp:lastModifiedBy>
  <cp:revision>3</cp:revision>
  <dcterms:created xsi:type="dcterms:W3CDTF">2026-05-26T19:40:11Z</dcterms:created>
  <dcterms:modified xsi:type="dcterms:W3CDTF">2026-05-29T18:38:10Z</dcterms:modified>
</cp:coreProperties>
</file>